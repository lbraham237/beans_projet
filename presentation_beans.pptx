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Classification de Maladies du Haricot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8E6C9"/>
                </a:solidFill>
              </a:rPr>
              <a:t>Projet ML &amp; Deep Learning — Module PY-ML-DL-M1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108960"/>
            <a:ext cx="5760720" cy="457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MVOGO Abraham  ·  MAAROUFI Abdelhamid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8E6C9"/>
                </a:solidFill>
              </a:rPr>
              <a:t>Dataset : Beans — Makerere AI Lab  |  3 classes  |  1 295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E6C9"/>
                </a:solidFill>
              </a:rPr>
              <a:t>Angular Leaf Spot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846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E6C9"/>
                </a:solidFill>
              </a:rPr>
              <a:t>Bean 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46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E6C9"/>
                </a:solidFill>
              </a:rPr>
              <a:t>Healthy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</a:rPr>
              <a:t>Comment diagnostiquer automatiquement la santé d'une feuille de haricot
à partir d'une simple photo prise au smartphone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1247120" cy="3657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3566160" cy="4114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🌍 Enjeu agricole</a:t>
            </a:r>
          </a:p>
          <a:p>
            <a:r>
              <a:rPr sz="1400">
                <a:solidFill>
                  <a:srgbClr val="212121"/>
                </a:solidFill>
              </a:rPr>
              <a:t>  Petits exploitants en Afrique de l'Est</a:t>
            </a:r>
          </a:p>
          <a:p>
            <a:r>
              <a:rPr sz="1400">
                <a:solidFill>
                  <a:srgbClr val="212121"/>
                </a:solidFill>
              </a:rPr>
              <a:t>  Perte de récoltes par maladies non détectées</a:t>
            </a:r>
          </a:p>
          <a:p>
            <a:r>
              <a:rPr sz="1400">
                <a:solidFill>
                  <a:srgbClr val="212121"/>
                </a:solidFill>
              </a:rPr>
              <a:t>  Besoin d'un outil simple et accessible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2194560"/>
            <a:ext cx="3566160" cy="4114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🎯 Objectif</a:t>
            </a:r>
          </a:p>
          <a:p>
            <a:r>
              <a:rPr sz="1400">
                <a:solidFill>
                  <a:srgbClr val="212121"/>
                </a:solidFill>
              </a:rPr>
              <a:t>  Classifier 3 états : sain, tache angulaire, rouille</a:t>
            </a:r>
          </a:p>
          <a:p>
            <a:r>
              <a:rPr sz="1400">
                <a:solidFill>
                  <a:srgbClr val="212121"/>
                </a:solidFill>
              </a:rPr>
              <a:t>  Comparer ML classique vs Deep Learning</a:t>
            </a:r>
          </a:p>
          <a:p>
            <a:r>
              <a:rPr sz="1400">
                <a:solidFill>
                  <a:srgbClr val="212121"/>
                </a:solidFill>
              </a:rPr>
              <a:t>  Déployer un dashboard interactif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194560"/>
            <a:ext cx="3566160" cy="4114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2860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📊 Approche</a:t>
            </a:r>
          </a:p>
          <a:p>
            <a:r>
              <a:rPr sz="1400">
                <a:solidFill>
                  <a:srgbClr val="212121"/>
                </a:solidFill>
              </a:rPr>
              <a:t>  Baseline ML : Logistic Regression + régularisation</a:t>
            </a:r>
          </a:p>
          <a:p>
            <a:r>
              <a:rPr sz="1400">
                <a:solidFill>
                  <a:srgbClr val="212121"/>
                </a:solidFill>
              </a:rPr>
              <a:t>  CNN from scratch</a:t>
            </a:r>
          </a:p>
          <a:p>
            <a:r>
              <a:rPr sz="1400">
                <a:solidFill>
                  <a:srgbClr val="212121"/>
                </a:solidFill>
              </a:rPr>
              <a:t>  Transfer Learning MobileNetV2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Dataset — Beans (Makerere AI Lab, 2020)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256032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B300"/>
                </a:solidFill>
              </a:rPr>
              <a:t>1 295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images totales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731520"/>
            <a:ext cx="256032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777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B300"/>
                </a:solidFill>
              </a:rPr>
              <a:t>128×128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résolution px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731520"/>
            <a:ext cx="256032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777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B300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731520"/>
            <a:ext cx="256032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777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B300"/>
                </a:solidFill>
              </a:rPr>
              <a:t>HuggingFace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E7D32"/>
                </a:solidFill>
              </a:rPr>
              <a:t>Répartition des splits</a:t>
            </a:r>
          </a:p>
          <a:p>
            <a:r>
              <a:rPr sz="1500">
                <a:solidFill>
                  <a:srgbClr val="212121"/>
                </a:solidFill>
              </a:rPr>
              <a:t>  Train    : 1 034 exemples (79.8%)</a:t>
            </a:r>
          </a:p>
          <a:p>
            <a:r>
              <a:rPr sz="1500">
                <a:solidFill>
                  <a:srgbClr val="212121"/>
                </a:solidFill>
              </a:rPr>
              <a:t>  Validation :  133 exemples (10.3%)</a:t>
            </a:r>
          </a:p>
          <a:p>
            <a:r>
              <a:rPr sz="1500">
                <a:solidFill>
                  <a:srgbClr val="212121"/>
                </a:solidFill>
              </a:rPr>
              <a:t>  Test       :  128 exemples (9.9%)</a:t>
            </a:r>
          </a:p>
          <a:p>
            <a:r>
              <a:rPr sz="1500">
                <a:solidFill>
                  <a:srgbClr val="212121"/>
                </a:solidFill>
              </a:rPr>
              <a:t>  </a:t>
            </a:r>
          </a:p>
          <a:p>
            <a:r>
              <a:rPr sz="1500">
                <a:solidFill>
                  <a:srgbClr val="212121"/>
                </a:solidFill>
              </a:rPr>
              <a:t>  Distribution équilibrée entre les 3 classes</a:t>
            </a:r>
          </a:p>
          <a:p>
            <a:r>
              <a:rPr sz="1500">
                <a:solidFill>
                  <a:srgbClr val="212121"/>
                </a:solidFill>
              </a:rPr>
              <a:t>  ~344 images par classe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Prétraitement appliqué</a:t>
            </a:r>
          </a:p>
          <a:p>
            <a:r>
              <a:rPr sz="1400">
                <a:solidFill>
                  <a:srgbClr val="212121"/>
                </a:solidFill>
              </a:rPr>
              <a:t>  Resize automatique → 128×128 pixels</a:t>
            </a:r>
          </a:p>
          <a:p>
            <a:r>
              <a:rPr sz="1400">
                <a:solidFill>
                  <a:srgbClr val="212121"/>
                </a:solidFill>
              </a:rPr>
              <a:t>  Normalisation [0, 1]</a:t>
            </a:r>
          </a:p>
          <a:p>
            <a:r>
              <a:rPr sz="1400">
                <a:solidFill>
                  <a:srgbClr val="212121"/>
                </a:solidFill>
              </a:rPr>
              <a:t>  Batching : 32 images/batch</a:t>
            </a:r>
          </a:p>
          <a:p>
            <a:r>
              <a:rPr sz="1400">
                <a:solidFill>
                  <a:srgbClr val="212121"/>
                </a:solidFill>
              </a:rPr>
              <a:t>  </a:t>
            </a:r>
          </a:p>
          <a:p>
            <a:r>
              <a:rPr sz="1400">
                <a:solidFill>
                  <a:srgbClr val="212121"/>
                </a:solidFill>
              </a:rPr>
              <a:t>  Augmentation (train uniquement) :</a:t>
            </a:r>
          </a:p>
          <a:p>
            <a:r>
              <a:rPr sz="1400">
                <a:solidFill>
                  <a:srgbClr val="212121"/>
                </a:solidFill>
              </a:rPr>
              <a:t>    • RandomFlip horizontal/vertical</a:t>
            </a:r>
          </a:p>
          <a:p>
            <a:r>
              <a:rPr sz="1400">
                <a:solidFill>
                  <a:srgbClr val="212121"/>
                </a:solidFill>
              </a:rPr>
              <a:t>    • RandomRotation ±10%</a:t>
            </a:r>
          </a:p>
          <a:p>
            <a:r>
              <a:rPr sz="1400">
                <a:solidFill>
                  <a:srgbClr val="212121"/>
                </a:solidFill>
              </a:rPr>
              <a:t>    • RandomZoom ±10%</a:t>
            </a:r>
          </a:p>
          <a:p>
            <a:r>
              <a:rPr sz="1400">
                <a:solidFill>
                  <a:srgbClr val="212121"/>
                </a:solidFill>
              </a:rPr>
              <a:t>    • RandomContrast ±10%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Modulaire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356616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</a:rPr>
              <a:t>data_loader.py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Chargement HuggingFace
Répartition train/val/test
Version NumPy pour ML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822960"/>
            <a:ext cx="356616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914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</a:rPr>
              <a:t>ml_baseline.py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4173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LogReg Ridge/Lasso/ElasticNet
Résultats : accuracy, F1
Diagnostic biais/variance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822960"/>
            <a:ext cx="356616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914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</a:rPr>
              <a:t>models.py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MLP baseline
CNN from scratch
Transfer MobileNetV2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3566160" cy="25603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</a:rPr>
              <a:t>training.py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Data augmentation
Callbacks EarlyStopping
ReduceLROnPlateau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657600"/>
            <a:ext cx="3566160" cy="25603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37490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</a:rPr>
              <a:t>evaluation.py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2519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Matrice de confusion
Courbes d'apprentissage
Tableau comparatif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657600"/>
            <a:ext cx="3566160" cy="25603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7490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</a:rPr>
              <a:t>dashboard.py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519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Interface Streamlit
Upload image
Prédiction + probabilités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Baseline ML — Régression Logistique Régularisée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Modèle &amp; Régularisation</a:t>
            </a:r>
          </a:p>
          <a:p>
            <a:r>
              <a:rPr sz="1400">
                <a:solidFill>
                  <a:srgbClr val="212121"/>
                </a:solidFill>
              </a:rPr>
              <a:t>  Logistic Regression (scikit-learn)</a:t>
            </a:r>
          </a:p>
          <a:p>
            <a:r>
              <a:rPr sz="1400">
                <a:solidFill>
                  <a:srgbClr val="212121"/>
                </a:solidFill>
              </a:rPr>
              <a:t>  </a:t>
            </a:r>
          </a:p>
          <a:p>
            <a:r>
              <a:rPr sz="1400">
                <a:solidFill>
                  <a:srgbClr val="212121"/>
                </a:solidFill>
              </a:rPr>
              <a:t>  L2 (Ridge) : pénalise les grands poids</a:t>
            </a:r>
          </a:p>
          <a:p>
            <a:r>
              <a:rPr sz="1400">
                <a:solidFill>
                  <a:srgbClr val="212121"/>
                </a:solidFill>
              </a:rPr>
              <a:t>    → réduit la variance</a:t>
            </a:r>
          </a:p>
          <a:p>
            <a:r>
              <a:rPr sz="1400">
                <a:solidFill>
                  <a:srgbClr val="212121"/>
                </a:solidFill>
              </a:rPr>
              <a:t>  L1 (Lasso) : force la parcimonie</a:t>
            </a:r>
          </a:p>
          <a:p>
            <a:r>
              <a:rPr sz="1400">
                <a:solidFill>
                  <a:srgbClr val="212121"/>
                </a:solidFill>
              </a:rPr>
              <a:t>    → sélection de features</a:t>
            </a:r>
          </a:p>
          <a:p>
            <a:r>
              <a:rPr sz="1400">
                <a:solidFill>
                  <a:srgbClr val="212121"/>
                </a:solidFill>
              </a:rPr>
              <a:t>  ElasticNet : combinaison L1 + L2</a:t>
            </a:r>
          </a:p>
          <a:p>
            <a:r>
              <a:rPr sz="1400">
                <a:solidFill>
                  <a:srgbClr val="212121"/>
                </a:solidFill>
              </a:rPr>
              <a:t>    → compromis sparsité/stabilité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7315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Résultats (LogReg L2, C=1.0)</a:t>
            </a:r>
          </a:p>
          <a:p>
            <a:r>
              <a:rPr sz="1400">
                <a:solidFill>
                  <a:srgbClr val="212121"/>
                </a:solidFill>
              </a:rPr>
              <a:t>  Train accuracy  : 100.0%  ⚠️ sur-apprentissage</a:t>
            </a:r>
          </a:p>
          <a:p>
            <a:r>
              <a:rPr sz="1400">
                <a:solidFill>
                  <a:srgbClr val="212121"/>
                </a:solidFill>
              </a:rPr>
              <a:t>  Val accuracy    :  67.7%</a:t>
            </a:r>
          </a:p>
          <a:p>
            <a:r>
              <a:rPr sz="1400">
                <a:solidFill>
                  <a:srgbClr val="212121"/>
                </a:solidFill>
              </a:rPr>
              <a:t>  Test accuracy   :  63.3%</a:t>
            </a:r>
          </a:p>
          <a:p>
            <a:r>
              <a:rPr sz="1400">
                <a:solidFill>
                  <a:srgbClr val="212121"/>
                </a:solidFill>
              </a:rPr>
              <a:t>  F1 macro        :  0.634</a:t>
            </a:r>
          </a:p>
          <a:p>
            <a:r>
              <a:rPr sz="1400">
                <a:solidFill>
                  <a:srgbClr val="212121"/>
                </a:solidFill>
              </a:rPr>
              <a:t>  </a:t>
            </a:r>
          </a:p>
          <a:p>
            <a:r>
              <a:rPr sz="1400">
                <a:solidFill>
                  <a:srgbClr val="212121"/>
                </a:solidFill>
              </a:rPr>
              <a:t>  Diagnostic : VARIANCE ÉLEVÉE</a:t>
            </a:r>
          </a:p>
          <a:p>
            <a:r>
              <a:rPr sz="1400">
                <a:solidFill>
                  <a:srgbClr val="212121"/>
                </a:solidFill>
              </a:rPr>
              <a:t>  Écart train-val = 32.3%</a:t>
            </a:r>
          </a:p>
          <a:p>
            <a:r>
              <a:rPr sz="1400">
                <a:solidFill>
                  <a:srgbClr val="212121"/>
                </a:solidFill>
              </a:rPr>
              <a:t>  Le modèle mémorise le bruit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11247120" cy="457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519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Pourquoi la baseline est limitée ?
Les images 128×128 aplaties → vecteurs de 49 152 features (pixels RGB)
La régression logistique ignore la structure spatiale des images
→ Le Deep Learning est justifié pour exploiter les patterns visuels locaux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Deep Learning — CNN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E7D32"/>
                </a:solidFill>
              </a:rPr>
              <a:t>Architecture CNN</a:t>
            </a:r>
          </a:p>
          <a:p>
            <a:r>
              <a:rPr sz="1300">
                <a:solidFill>
                  <a:srgbClr val="212121"/>
                </a:solidFill>
              </a:rPr>
              <a:t>  Input : (128, 128, 3)</a:t>
            </a:r>
          </a:p>
          <a:p>
            <a:r>
              <a:rPr sz="1300">
                <a:solidFill>
                  <a:srgbClr val="212121"/>
                </a:solidFill>
              </a:rPr>
              <a:t>  </a:t>
            </a:r>
          </a:p>
          <a:p>
            <a:r>
              <a:rPr sz="1300">
                <a:solidFill>
                  <a:srgbClr val="212121"/>
                </a:solidFill>
              </a:rPr>
              <a:t>  Bloc 1 : Conv2D(32) → BN → ReLU → MaxPool</a:t>
            </a:r>
          </a:p>
          <a:p>
            <a:r>
              <a:rPr sz="1300">
                <a:solidFill>
                  <a:srgbClr val="212121"/>
                </a:solidFill>
              </a:rPr>
              <a:t>  Bloc 2 : Conv2D(64) → BN → ReLU → MaxPool</a:t>
            </a:r>
          </a:p>
          <a:p>
            <a:r>
              <a:rPr sz="1300">
                <a:solidFill>
                  <a:srgbClr val="212121"/>
                </a:solidFill>
              </a:rPr>
              <a:t>  Bloc 3 : Conv2D(128) → BN → ReLU → MaxPool</a:t>
            </a:r>
          </a:p>
          <a:p>
            <a:r>
              <a:rPr sz="1300">
                <a:solidFill>
                  <a:srgbClr val="212121"/>
                </a:solidFill>
              </a:rPr>
              <a:t>  </a:t>
            </a:r>
          </a:p>
          <a:p>
            <a:r>
              <a:rPr sz="1300">
                <a:solidFill>
                  <a:srgbClr val="212121"/>
                </a:solidFill>
              </a:rPr>
              <a:t>  GlobalAveragePooling2D</a:t>
            </a:r>
          </a:p>
          <a:p>
            <a:r>
              <a:rPr sz="1300">
                <a:solidFill>
                  <a:srgbClr val="212121"/>
                </a:solidFill>
              </a:rPr>
              <a:t>  Dropout(0.5)</a:t>
            </a:r>
          </a:p>
          <a:p>
            <a:r>
              <a:rPr sz="1300">
                <a:solidFill>
                  <a:srgbClr val="212121"/>
                </a:solidFill>
              </a:rPr>
              <a:t>  Dense(3, softmax)</a:t>
            </a:r>
          </a:p>
          <a:p>
            <a:r>
              <a:rPr sz="1300">
                <a:solidFill>
                  <a:srgbClr val="212121"/>
                </a:solidFill>
              </a:rPr>
              <a:t>  </a:t>
            </a:r>
          </a:p>
          <a:p>
            <a:r>
              <a:rPr sz="1300">
                <a:solidFill>
                  <a:srgbClr val="212121"/>
                </a:solidFill>
              </a:rPr>
              <a:t>  Total : 94 307 paramètres</a:t>
            </a:r>
          </a:p>
          <a:p>
            <a:r>
              <a:rPr sz="1300">
                <a:solidFill>
                  <a:srgbClr val="212121"/>
                </a:solidFill>
              </a:rPr>
              <a:t>  Optimiseur : Adam (lr=0.001)</a:t>
            </a:r>
          </a:p>
          <a:p>
            <a:r>
              <a:rPr sz="1300">
                <a:solidFill>
                  <a:srgbClr val="212121"/>
                </a:solidFill>
              </a:rPr>
              <a:t>  Callbacks : EarlyStopping + ReduceLR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73152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Résultats</a:t>
            </a:r>
          </a:p>
          <a:p>
            <a:r>
              <a:rPr sz="1400">
                <a:solidFill>
                  <a:srgbClr val="212121"/>
                </a:solidFill>
              </a:rPr>
              <a:t>  Test accuracy  : 79.7%</a:t>
            </a:r>
          </a:p>
          <a:p>
            <a:r>
              <a:rPr sz="1400">
                <a:solidFill>
                  <a:srgbClr val="212121"/>
                </a:solidFill>
              </a:rPr>
              <a:t>  F1 macro       : 0.795</a:t>
            </a:r>
          </a:p>
          <a:p>
            <a:r>
              <a:rPr sz="1400">
                <a:solidFill>
                  <a:srgbClr val="212121"/>
                </a:solidFill>
              </a:rPr>
              <a:t>  Paramètres     : 94 307</a:t>
            </a:r>
          </a:p>
          <a:p>
            <a:r>
              <a:rPr sz="1400">
                <a:solidFill>
                  <a:srgbClr val="212121"/>
                </a:solidFill>
              </a:rPr>
              <a:t>  </a:t>
            </a:r>
          </a:p>
          <a:p>
            <a:r>
              <a:rPr sz="1400">
                <a:solidFill>
                  <a:srgbClr val="212121"/>
                </a:solidFill>
              </a:rPr>
              <a:t>  +16.4 points vs baseline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365760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Anti Vanishing Gradient</a:t>
            </a:r>
          </a:p>
          <a:p>
            <a:r>
              <a:rPr sz="1400">
                <a:solidFill>
                  <a:srgbClr val="212121"/>
                </a:solidFill>
              </a:rPr>
              <a:t>  BatchNormalization après chaque Conv</a:t>
            </a:r>
          </a:p>
          <a:p>
            <a:r>
              <a:rPr sz="1400">
                <a:solidFill>
                  <a:srgbClr val="212121"/>
                </a:solidFill>
              </a:rPr>
              <a:t>  Activation ReLU (gradient non nul)</a:t>
            </a:r>
          </a:p>
          <a:p>
            <a:r>
              <a:rPr sz="1400">
                <a:solidFill>
                  <a:srgbClr val="212121"/>
                </a:solidFill>
              </a:rPr>
              <a:t>  GlobalAveragePooling (pas Flatten)</a:t>
            </a:r>
          </a:p>
          <a:p>
            <a:r>
              <a:rPr sz="1400">
                <a:solidFill>
                  <a:srgbClr val="212121"/>
                </a:solidFill>
              </a:rPr>
              <a:t>  ReduceLROnPlateau si stagnation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Deep Learning Avancé — Transfer Learning MobileNetV2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E7D32"/>
                </a:solidFill>
              </a:rPr>
              <a:t>Architecture Transfer Learning</a:t>
            </a:r>
          </a:p>
          <a:p>
            <a:r>
              <a:rPr sz="1300">
                <a:solidFill>
                  <a:srgbClr val="212121"/>
                </a:solidFill>
              </a:rPr>
              <a:t>  Base : MobileNetV2 (pré-entraîné ImageNet)</a:t>
            </a:r>
          </a:p>
          <a:p>
            <a:r>
              <a:rPr sz="1300">
                <a:solidFill>
                  <a:srgbClr val="212121"/>
                </a:solidFill>
              </a:rPr>
              <a:t>    → poids figés (trainable=False)</a:t>
            </a:r>
          </a:p>
          <a:p>
            <a:r>
              <a:rPr sz="1300">
                <a:solidFill>
                  <a:srgbClr val="212121"/>
                </a:solidFill>
              </a:rPr>
              <a:t>  </a:t>
            </a:r>
          </a:p>
          <a:p>
            <a:r>
              <a:rPr sz="1300">
                <a:solidFill>
                  <a:srgbClr val="212121"/>
                </a:solidFill>
              </a:rPr>
              <a:t>  Tête de classification ajoutée :</a:t>
            </a:r>
          </a:p>
          <a:p>
            <a:r>
              <a:rPr sz="1300">
                <a:solidFill>
                  <a:srgbClr val="212121"/>
                </a:solidFill>
              </a:rPr>
              <a:t>    GlobalAveragePooling2D</a:t>
            </a:r>
          </a:p>
          <a:p>
            <a:r>
              <a:rPr sz="1300">
                <a:solidFill>
                  <a:srgbClr val="212121"/>
                </a:solidFill>
              </a:rPr>
              <a:t>    Dense(128, ReLU)</a:t>
            </a:r>
          </a:p>
          <a:p>
            <a:r>
              <a:rPr sz="1300">
                <a:solidFill>
                  <a:srgbClr val="212121"/>
                </a:solidFill>
              </a:rPr>
              <a:t>    Dropout(0.3)</a:t>
            </a:r>
          </a:p>
          <a:p>
            <a:r>
              <a:rPr sz="1300">
                <a:solidFill>
                  <a:srgbClr val="212121"/>
                </a:solidFill>
              </a:rPr>
              <a:t>    Dense(3, softmax)</a:t>
            </a:r>
          </a:p>
          <a:p>
            <a:r>
              <a:rPr sz="1300">
                <a:solidFill>
                  <a:srgbClr val="212121"/>
                </a:solidFill>
              </a:rPr>
              <a:t>  </a:t>
            </a:r>
          </a:p>
          <a:p>
            <a:r>
              <a:rPr sz="1300">
                <a:solidFill>
                  <a:srgbClr val="212121"/>
                </a:solidFill>
              </a:rPr>
              <a:t>  Total : 2 261 827 paramètres</a:t>
            </a:r>
          </a:p>
          <a:p>
            <a:r>
              <a:rPr sz="1300">
                <a:solidFill>
                  <a:srgbClr val="212121"/>
                </a:solidFill>
              </a:rPr>
              <a:t>  Dont 94% non entraînables (base figée)</a:t>
            </a:r>
          </a:p>
          <a:p>
            <a:r>
              <a:rPr sz="1300">
                <a:solidFill>
                  <a:srgbClr val="212121"/>
                </a:solidFill>
              </a:rPr>
              <a:t>  </a:t>
            </a:r>
          </a:p>
          <a:p>
            <a:r>
              <a:rPr sz="1300">
                <a:solidFill>
                  <a:srgbClr val="212121"/>
                </a:solidFill>
              </a:rPr>
              <a:t>  Justification : les features visuelles bas</a:t>
            </a:r>
          </a:p>
          <a:p>
            <a:r>
              <a:rPr sz="1300">
                <a:solidFill>
                  <a:srgbClr val="212121"/>
                </a:solidFill>
              </a:rPr>
              <a:t>  niveau (textures, formes) appris sur</a:t>
            </a:r>
          </a:p>
          <a:p>
            <a:r>
              <a:rPr sz="1300">
                <a:solidFill>
                  <a:srgbClr val="212121"/>
                </a:solidFill>
              </a:rPr>
              <a:t>  ImageNet sont réutilisables pour les feuilles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73152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Résultats</a:t>
            </a:r>
          </a:p>
          <a:p>
            <a:r>
              <a:rPr sz="1400">
                <a:solidFill>
                  <a:srgbClr val="212121"/>
                </a:solidFill>
              </a:rPr>
              <a:t>  Test accuracy  : 86.7%</a:t>
            </a:r>
          </a:p>
          <a:p>
            <a:r>
              <a:rPr sz="1400">
                <a:solidFill>
                  <a:srgbClr val="212121"/>
                </a:solidFill>
              </a:rPr>
              <a:t>  F1 macro       : 0.867</a:t>
            </a:r>
          </a:p>
          <a:p>
            <a:r>
              <a:rPr sz="1400">
                <a:solidFill>
                  <a:srgbClr val="212121"/>
                </a:solidFill>
              </a:rPr>
              <a:t>  Paramètres     : 2 261 827</a:t>
            </a:r>
          </a:p>
          <a:p>
            <a:r>
              <a:rPr sz="1400">
                <a:solidFill>
                  <a:srgbClr val="212121"/>
                </a:solidFill>
              </a:rPr>
              <a:t>  </a:t>
            </a:r>
          </a:p>
          <a:p>
            <a:r>
              <a:rPr sz="1400">
                <a:solidFill>
                  <a:srgbClr val="212121"/>
                </a:solidFill>
              </a:rPr>
              <a:t>  +23.4 points vs baseline ML</a:t>
            </a:r>
          </a:p>
          <a:p>
            <a:r>
              <a:rPr sz="1400">
                <a:solidFill>
                  <a:srgbClr val="212121"/>
                </a:solidFill>
              </a:rPr>
              <a:t>  +7.0 points vs CNN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365760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Pourquoi MobileNetV2 ?</a:t>
            </a:r>
          </a:p>
          <a:p>
            <a:r>
              <a:rPr sz="1400">
                <a:solidFill>
                  <a:srgbClr val="212121"/>
                </a:solidFill>
              </a:rPr>
              <a:t>  Architecture légère (mobile-friendly)</a:t>
            </a:r>
          </a:p>
          <a:p>
            <a:r>
              <a:rPr sz="1400">
                <a:solidFill>
                  <a:srgbClr val="212121"/>
                </a:solidFill>
              </a:rPr>
              <a:t>  Dépthwise separable convolutions</a:t>
            </a:r>
          </a:p>
          <a:p>
            <a:r>
              <a:rPr sz="1400">
                <a:solidFill>
                  <a:srgbClr val="212121"/>
                </a:solidFill>
              </a:rPr>
              <a:t>  Inverted residuals (bottleneck)</a:t>
            </a:r>
          </a:p>
          <a:p>
            <a:r>
              <a:rPr sz="1400">
                <a:solidFill>
                  <a:srgbClr val="212121"/>
                </a:solidFill>
              </a:rPr>
              <a:t>  Adapté à des datasets de taille modeste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Comparaison des Modèles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342900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822960"/>
            <a:ext cx="19659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868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Accuracy (test)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822960"/>
            <a:ext cx="160020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8686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 macro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822960"/>
            <a:ext cx="21488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868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Paramètres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822960"/>
            <a:ext cx="13258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868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Temps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17320"/>
            <a:ext cx="3429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46304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LogReg régularisée (baseline)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417320"/>
            <a:ext cx="19659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1463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63.3%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417320"/>
            <a:ext cx="16002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463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0.634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1417320"/>
            <a:ext cx="21488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463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36 864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417320"/>
            <a:ext cx="132588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4630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rapide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057400"/>
            <a:ext cx="3429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10312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CNN from scratch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057400"/>
            <a:ext cx="1965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6200" y="21031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79.7%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2057400"/>
            <a:ext cx="1600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21031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0.795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0" y="205740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21031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94 307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057400"/>
            <a:ext cx="1325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21031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moyen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697480"/>
            <a:ext cx="342900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74320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Transfer MobileNetV2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697480"/>
            <a:ext cx="196596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6200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★ 86.7%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2697480"/>
            <a:ext cx="160020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80" y="27432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★ 0.867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2697480"/>
            <a:ext cx="214884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80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2 261 827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92640" y="2697480"/>
            <a:ext cx="132588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27432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</a:rPr>
              <a:t>moyen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Analyse comparative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70916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• La baseline ML souffre d'un sur-apprentissage sévère (train=100% vs test=63%) : les pixels bruts ne capturent pas la sémantique visuelle.
• Le CNN from scratch gagne +16 pts grâce à l'invariance spatiale des convolutions et la BatchNorm anti-vanishing.
• Le Transfer Learning atteint 86.7% en réutilisant les features ImageNet : optimal pour un dataset de 1 295 images.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Dashboard Streamlit — Déploiement (Jalon 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50292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E7D32"/>
                </a:solidFill>
              </a:rPr>
              <a:t>Fonctionnalités</a:t>
            </a:r>
          </a:p>
          <a:p>
            <a:r>
              <a:rPr sz="1400">
                <a:solidFill>
                  <a:srgbClr val="212121"/>
                </a:solidFill>
              </a:rPr>
              <a:t>  Upload d'une image JPG/PNG</a:t>
            </a:r>
          </a:p>
          <a:p>
            <a:r>
              <a:rPr sz="1400">
                <a:solidFill>
                  <a:srgbClr val="212121"/>
                </a:solidFill>
              </a:rPr>
              <a:t>  Prétraitement automatique :</a:t>
            </a:r>
          </a:p>
          <a:p>
            <a:r>
              <a:rPr sz="1400">
                <a:solidFill>
                  <a:srgbClr val="212121"/>
                </a:solidFill>
              </a:rPr>
              <a:t>    • Resize 128×128</a:t>
            </a:r>
          </a:p>
          <a:p>
            <a:r>
              <a:rPr sz="1400">
                <a:solidFill>
                  <a:srgbClr val="212121"/>
                </a:solidFill>
              </a:rPr>
              <a:t>    • Normalisation [0,1]</a:t>
            </a:r>
          </a:p>
          <a:p>
            <a:r>
              <a:rPr sz="1400">
                <a:solidFill>
                  <a:srgbClr val="212121"/>
                </a:solidFill>
              </a:rPr>
              <a:t>  </a:t>
            </a:r>
          </a:p>
          <a:p>
            <a:r>
              <a:rPr sz="1400">
                <a:solidFill>
                  <a:srgbClr val="212121"/>
                </a:solidFill>
              </a:rPr>
              <a:t>  Affichage de la prédiction</a:t>
            </a:r>
          </a:p>
          <a:p>
            <a:r>
              <a:rPr sz="1400">
                <a:solidFill>
                  <a:srgbClr val="212121"/>
                </a:solidFill>
              </a:rPr>
              <a:t>  Score de confiance (%)</a:t>
            </a:r>
          </a:p>
          <a:p>
            <a:r>
              <a:rPr sz="1400">
                <a:solidFill>
                  <a:srgbClr val="212121"/>
                </a:solidFill>
              </a:rPr>
              <a:t>  Détail des 3 probabilités</a:t>
            </a:r>
          </a:p>
          <a:p>
            <a:r>
              <a:rPr sz="1400">
                <a:solidFill>
                  <a:srgbClr val="212121"/>
                </a:solidFill>
              </a:rPr>
              <a:t>    (barres de progression)</a:t>
            </a:r>
          </a:p>
          <a:p>
            <a:r>
              <a:rPr sz="1400">
                <a:solidFill>
                  <a:srgbClr val="212121"/>
                </a:solidFill>
              </a:rPr>
              <a:t>  </a:t>
            </a:r>
          </a:p>
          <a:p>
            <a:r>
              <a:rPr sz="1400">
                <a:solidFill>
                  <a:srgbClr val="212121"/>
                </a:solidFill>
              </a:rPr>
              <a:t>  Chargement du modèle en cache</a:t>
            </a:r>
          </a:p>
          <a:p>
            <a:r>
              <a:rPr sz="1400">
                <a:solidFill>
                  <a:srgbClr val="212121"/>
                </a:solidFill>
              </a:rPr>
              <a:t>    → réponse instantanée</a:t>
            </a:r>
          </a:p>
          <a:p>
            <a:r>
              <a:rPr sz="1400">
                <a:solidFill>
                  <a:srgbClr val="212121"/>
                </a:solidFill>
              </a:rPr>
              <a:t>  </a:t>
            </a:r>
          </a:p>
          <a:p>
            <a:r>
              <a:rPr sz="1400">
                <a:solidFill>
                  <a:srgbClr val="212121"/>
                </a:solidFill>
              </a:rPr>
              <a:t>  Lancement : streamlit run app/dashboard.py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731520"/>
            <a:ext cx="6035040" cy="5760720"/>
          </a:xfrm>
          <a:prstGeom prst="rect">
            <a:avLst/>
          </a:prstGeom>
          <a:solidFill>
            <a:srgbClr val="F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77724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🌱 Détection de maladies du haricot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280160"/>
            <a:ext cx="5760720" cy="8229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3716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📁  Choisissez une photo de feuille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286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Prédiction : Tache angulaire 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Confiance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</a:rPr>
              <a:t>90.4%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74903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Détail des probabilités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160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Tache angulaire 🦠 — 90.4%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70915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Rouille 🍂 — 6.8%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52578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Saine ✅ — 2.8%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CI/CD, Tests &amp; Reproductibilité (Bonus)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E7D32"/>
                </a:solidFill>
              </a:rPr>
              <a:t>Pipeline CI/CD (.github/workflows/ci.yml)</a:t>
            </a:r>
          </a:p>
          <a:p>
            <a:r>
              <a:rPr sz="1300">
                <a:solidFill>
                  <a:srgbClr val="212121"/>
                </a:solidFill>
              </a:rPr>
              <a:t>  Déclenchement : push / pull request</a:t>
            </a:r>
          </a:p>
          <a:p>
            <a:r>
              <a:rPr sz="1300">
                <a:solidFill>
                  <a:srgbClr val="212121"/>
                </a:solidFill>
              </a:rPr>
              <a:t>  Runner : ubuntu-latest + Python 3.12</a:t>
            </a:r>
          </a:p>
          <a:p>
            <a:r>
              <a:rPr sz="1300">
                <a:solidFill>
                  <a:srgbClr val="212121"/>
                </a:solidFill>
              </a:rPr>
              <a:t>  </a:t>
            </a:r>
          </a:p>
          <a:p>
            <a:r>
              <a:rPr sz="1300">
                <a:solidFill>
                  <a:srgbClr val="212121"/>
                </a:solidFill>
              </a:rPr>
              <a:t>  Étapes :</a:t>
            </a:r>
          </a:p>
          <a:p>
            <a:r>
              <a:rPr sz="1300">
                <a:solidFill>
                  <a:srgbClr val="212121"/>
                </a:solidFill>
              </a:rPr>
              <a:t>    1. Installation des dépendances légères</a:t>
            </a:r>
          </a:p>
          <a:p>
            <a:r>
              <a:rPr sz="1300">
                <a:solidFill>
                  <a:srgbClr val="212121"/>
                </a:solidFill>
              </a:rPr>
              <a:t>       (numpy, pandas, sklearn, pytest)</a:t>
            </a:r>
          </a:p>
          <a:p>
            <a:r>
              <a:rPr sz="1300">
                <a:solidFill>
                  <a:srgbClr val="212121"/>
                </a:solidFill>
              </a:rPr>
              <a:t>    2. Exécution : pytest -q tests/</a:t>
            </a:r>
          </a:p>
          <a:p>
            <a:r>
              <a:rPr sz="1300">
                <a:solidFill>
                  <a:srgbClr val="212121"/>
                </a:solidFill>
              </a:rPr>
              <a:t>  </a:t>
            </a:r>
          </a:p>
          <a:p>
            <a:r>
              <a:rPr sz="1300">
                <a:solidFill>
                  <a:srgbClr val="212121"/>
                </a:solidFill>
              </a:rPr>
              <a:t>  Tests couverts :</a:t>
            </a:r>
          </a:p>
          <a:p>
            <a:r>
              <a:rPr sz="1300">
                <a:solidFill>
                  <a:srgbClr val="212121"/>
                </a:solidFill>
              </a:rPr>
              <a:t>    • Cohérence des classes (3 classes)</a:t>
            </a:r>
          </a:p>
          <a:p>
            <a:r>
              <a:rPr sz="1300">
                <a:solidFill>
                  <a:srgbClr val="212121"/>
                </a:solidFill>
              </a:rPr>
              <a:t>    • Distribution train/val/test</a:t>
            </a:r>
          </a:p>
          <a:p>
            <a:r>
              <a:rPr sz="1300">
                <a:solidFill>
                  <a:srgbClr val="212121"/>
                </a:solidFill>
              </a:rPr>
              <a:t>    • Sparsité Lasso (L1)</a:t>
            </a:r>
          </a:p>
          <a:p>
            <a:r>
              <a:rPr sz="1300">
                <a:solidFill>
                  <a:srgbClr val="212121"/>
                </a:solidFill>
              </a:rPr>
              <a:t>    • Accuracy baseline &gt; seuil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7315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E7D32"/>
                </a:solidFill>
              </a:rPr>
              <a:t>Reproductibilité</a:t>
            </a:r>
          </a:p>
          <a:p>
            <a:r>
              <a:rPr sz="1300">
                <a:solidFill>
                  <a:srgbClr val="212121"/>
                </a:solidFill>
              </a:rPr>
              <a:t>  requirements.txt complet et versionné</a:t>
            </a:r>
          </a:p>
          <a:p>
            <a:r>
              <a:rPr sz="1300">
                <a:solidFill>
                  <a:srgbClr val="212121"/>
                </a:solidFill>
              </a:rPr>
              <a:t>    numpy&gt;=1.26, tensorflow&gt;=2.15</a:t>
            </a:r>
          </a:p>
          <a:p>
            <a:r>
              <a:rPr sz="1300">
                <a:solidFill>
                  <a:srgbClr val="212121"/>
                </a:solidFill>
              </a:rPr>
              <a:t>    scikit-learn&gt;=1.4, streamlit&gt;=1.30</a:t>
            </a:r>
          </a:p>
          <a:p>
            <a:r>
              <a:rPr sz="1300">
                <a:solidFill>
                  <a:srgbClr val="212121"/>
                </a:solidFill>
              </a:rPr>
              <a:t>    datasets&gt;=2.19 (HuggingFace)</a:t>
            </a:r>
          </a:p>
          <a:p>
            <a:r>
              <a:rPr sz="1300">
                <a:solidFill>
                  <a:srgbClr val="212121"/>
                </a:solidFill>
              </a:rPr>
              <a:t>  </a:t>
            </a:r>
          </a:p>
          <a:p>
            <a:r>
              <a:rPr sz="1300">
                <a:solidFill>
                  <a:srgbClr val="212121"/>
                </a:solidFill>
              </a:rPr>
              <a:t>  Installation en 2 commandes :</a:t>
            </a:r>
          </a:p>
          <a:p>
            <a:r>
              <a:rPr sz="1300">
                <a:solidFill>
                  <a:srgbClr val="212121"/>
                </a:solidFill>
              </a:rPr>
              <a:t>    python -m venv .venv</a:t>
            </a:r>
          </a:p>
          <a:p>
            <a:r>
              <a:rPr sz="1300">
                <a:solidFill>
                  <a:srgbClr val="212121"/>
                </a:solidFill>
              </a:rPr>
              <a:t>    pip install -r requirements.txt</a:t>
            </a:r>
          </a:p>
          <a:p>
            <a:r>
              <a:rPr sz="1300">
                <a:solidFill>
                  <a:srgbClr val="212121"/>
                </a:solidFill>
              </a:rPr>
              <a:t>  </a:t>
            </a:r>
          </a:p>
          <a:p>
            <a:r>
              <a:rPr sz="1300">
                <a:solidFill>
                  <a:srgbClr val="212121"/>
                </a:solidFill>
              </a:rPr>
              <a:t>  Dataset téléchargé automatiquement</a:t>
            </a:r>
          </a:p>
          <a:p>
            <a:r>
              <a:rPr sz="1300">
                <a:solidFill>
                  <a:srgbClr val="212121"/>
                </a:solidFill>
              </a:rPr>
              <a:t>    → aucun fichier de données versionné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E7D32"/>
                </a:solidFill>
              </a:rPr>
              <a:t>Git Tags — Jalons tracés</a:t>
            </a:r>
          </a:p>
          <a:p>
            <a:r>
              <a:rPr sz="1300">
                <a:solidFill>
                  <a:srgbClr val="212121"/>
                </a:solidFill>
              </a:rPr>
              <a:t>  data  →  Chargement dataset (commit initial)</a:t>
            </a:r>
          </a:p>
          <a:p>
            <a:r>
              <a:rPr sz="1300">
                <a:solidFill>
                  <a:srgbClr val="212121"/>
                </a:solidFill>
              </a:rPr>
              <a:t>  eda   →  Exploration &amp; augmentation</a:t>
            </a:r>
          </a:p>
          <a:p>
            <a:r>
              <a:rPr sz="1300">
                <a:solidFill>
                  <a:srgbClr val="212121"/>
                </a:solidFill>
              </a:rPr>
              <a:t>  ml    →  Baseline ML + régularisation</a:t>
            </a:r>
          </a:p>
          <a:p>
            <a:r>
              <a:rPr sz="1300">
                <a:solidFill>
                  <a:srgbClr val="212121"/>
                </a:solidFill>
              </a:rPr>
              <a:t>  eval-ml  →  Évaluation ML + biais/variance</a:t>
            </a:r>
          </a:p>
          <a:p>
            <a:r>
              <a:rPr sz="1300">
                <a:solidFill>
                  <a:srgbClr val="212121"/>
                </a:solidFill>
              </a:rPr>
              <a:t>  dl       →  Architecture CNN + Transfer</a:t>
            </a:r>
          </a:p>
          <a:p>
            <a:r>
              <a:rPr sz="1300">
                <a:solidFill>
                  <a:srgbClr val="212121"/>
                </a:solidFill>
              </a:rPr>
              <a:t>  opti-dl  →  Optimisation (callbacks, Adam, BN)</a:t>
            </a:r>
          </a:p>
          <a:p>
            <a:r>
              <a:rPr sz="1300">
                <a:solidFill>
                  <a:srgbClr val="212121"/>
                </a:solidFill>
              </a:rPr>
              <a:t>  eval-dl  →  Pipeline complet + comparaison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188720"/>
            <a:ext cx="5760720" cy="457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300"/>
                </a:solidFill>
              </a:rPr>
              <a:t>🎯 Objectif atteint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C9"/>
                </a:solidFill>
              </a:rPr>
              <a:t>Le Transfer Learning MobileNetV2 atteint 86.7% d'accuracy
soit +23 points vs la baseline 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486400" cy="2103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300"/>
                </a:solidFill>
              </a:rPr>
              <a:t>📐 Modularité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C9"/>
                </a:solidFill>
              </a:rPr>
              <a:t>Code entièrement modulaire (src/*.py)
importé dans le notebook d'orchestration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300"/>
                </a:solidFill>
              </a:rPr>
              <a:t>🚀 Déploiement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C9"/>
                </a:solidFill>
              </a:rPr>
              <a:t>Dashboard Streamlit fonctionnel
prédiction en temps réel avec score de confiance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840480"/>
            <a:ext cx="5486400" cy="2103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300"/>
                </a:solidFill>
              </a:rPr>
              <a:t>🔬 Rigueur scientifique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262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C9"/>
                </a:solidFill>
              </a:rPr>
              <a:t>Analyse biais/variance, anti-vanishing gradient
comparaison argumentée ML vs DL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8E6C9"/>
                </a:solidFill>
              </a:rPr>
              <a:t>MVOGO Abraham  ·  MAAROUFI Abdelhamid  —  PY-ML-DL-M1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